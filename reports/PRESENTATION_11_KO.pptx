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상태 기준: 2026-10-23. 실제 원자료 다운로드 및 성능평가는 차단 상태. 합성 검사 수치를 성인/아동 예측 성능으로 발표하지 않는다.</a:t>
            </a:r>
          </a:p>
          <a:p>
            <a:r>
              <a:t>근거·링크: EVIDENCE_LEDGER.md, reports/FINAL_REPORT_KO.md, design/PRODUCT_DESIGN.md, results/logs/ 참조.</a:t>
            </a:r>
          </a:p>
          <a:p>
            <a:r>
              <a:t>L4 연구 목적 | 멜트다운 감소·60초 경보는 미검증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상태 기준: 2026-10-23. 실제 원자료 다운로드 및 성능평가는 차단 상태. 합성 검사 수치를 성인/아동 예측 성능으로 발표하지 않는다.</a:t>
            </a:r>
          </a:p>
          <a:p>
            <a:r>
              <a:t>근거·링크: EVIDENCE_LEDGER.md, reports/FINAL_REPORT_KO.md, design/PRODUCT_DESIGN.md, results/logs/ 참조.</a:t>
            </a:r>
          </a:p>
          <a:p>
            <a:r>
              <a:t>L2 | AUROC .84 ≠ 정확도84%·경고정밀도84% | EVIDENCE_LEDGER.md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상태 기준: 2026-10-23. 실제 원자료 다운로드 및 성능평가는 차단 상태. 합성 검사 수치를 성인/아동 예측 성능으로 발표하지 않는다.</a:t>
            </a:r>
          </a:p>
          <a:p>
            <a:r>
              <a:t>근거·링크: EVIDENCE_LEDGER.md, reports/FINAL_REPORT_KO.md, design/PRODUCT_DESIGN.md, results/logs/ 참조.</a:t>
            </a:r>
          </a:p>
          <a:p>
            <a:r>
              <a:t>L2-실데이터 검증 | 성인 실험실 스트레스 분류 | 아동 멜트다운 지표는 N/A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상태 기준: 2026-10-23. 실제 원자료 다운로드 및 성능평가는 차단 상태. 합성 검사 수치를 성인/아동 예측 성능으로 발표하지 않는다.</a:t>
            </a:r>
          </a:p>
          <a:p>
            <a:r>
              <a:t>근거·링크: EVIDENCE_LEDGER.md, reports/FINAL_REPORT_KO.md, design/PRODUCT_DESIGN.md, results/logs/ 참조.</a:t>
            </a:r>
          </a:p>
          <a:p>
            <a:r>
              <a:t>DOC + L3 계산 | 제작·MCU 추론·배터리 실측 없음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상태 기준: 2026-10-23. 실제 원자료 다운로드 및 성능평가는 차단 상태. 합성 검사 수치를 성인/아동 예측 성능으로 발표하지 않는다.</a:t>
            </a:r>
          </a:p>
          <a:p>
            <a:r>
              <a:t>근거·링크: EVIDENCE_LEDGER.md, reports/FINAL_REPORT_KO.md, design/PRODUCT_DESIGN.md, results/logs/ 참조.</a:t>
            </a:r>
          </a:p>
          <a:p>
            <a:r>
              <a:t>설계 시안 | design/APP_MOCKUP.html | 실제 사용자 평가 미실행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상태 기준: 2026-10-23. 실제 원자료 다운로드 및 성능평가는 차단 상태. 합성 검사 수치를 성인/아동 예측 성능으로 발표하지 않는다.</a:t>
            </a:r>
          </a:p>
          <a:p>
            <a:r>
              <a:t>근거·링크: EVIDENCE_LEDGER.md, reports/FINAL_REPORT_KO.md, design/PRODUCT_DESIGN.md, results/logs/ 참조.</a:t>
            </a:r>
          </a:p>
          <a:p>
            <a:r>
              <a:t>사전 계획 | EXPERIMENT_REGISTRY.md | P0/P1 전 P2 고급모델 중지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상태 기준: 2026-10-23. 실제 원자료 다운로드 및 성능평가는 차단 상태. 합성 검사 수치를 성인/아동 예측 성능으로 발표하지 않는다.</a:t>
            </a:r>
          </a:p>
          <a:p>
            <a:r>
              <a:t>근거·링크: EVIDENCE_LEDGER.md, reports/FINAL_REPORT_KO.md, design/PRODUCT_DESIGN.md, results/logs/ 참조.</a:t>
            </a:r>
          </a:p>
          <a:p>
            <a:r>
              <a:t>L2-실데이터 | results/wesad/metrics.json / summary.csv | 19개 단위검사 통과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상태 기준: 2026-10-23. 실제 원자료 다운로드 및 성능평가는 차단 상태. 합성 검사 수치를 성인/아동 예측 성능으로 발표하지 않는다.</a:t>
            </a:r>
          </a:p>
          <a:p>
            <a:r>
              <a:t>근거·링크: EVIDENCE_LEDGER.md, reports/FINAL_REPORT_KO.md, design/PRODUCT_DESIGN.md, results/logs/ 참조.</a:t>
            </a:r>
          </a:p>
          <a:p>
            <a:r>
              <a:t>실데이터 결과 반영 | reports/RESULTS_CURRENT.md / QUALITY_REPORT.md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상태 기준: 2026-10-23. 실제 원자료 다운로드 및 성능평가는 차단 상태. 합성 검사 수치를 성인/아동 예측 성능으로 발표하지 않는다.</a:t>
            </a:r>
          </a:p>
          <a:p>
            <a:r>
              <a:t>근거·링크: EVIDENCE_LEDGER.md, reports/FINAL_REPORT_KO.md, design/PRODUCT_DESIGN.md, results/logs/ 참조.</a:t>
            </a:r>
          </a:p>
          <a:p>
            <a:r>
              <a:t>H1–H4 사전 가설 | 결과에 맞춘 성공 기준 변경 금지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상태 기준: 2026-10-23. 실제 원자료 다운로드 및 성능평가는 차단 상태. 합성 검사 수치를 성인/아동 예측 성능으로 발표하지 않는다.</a:t>
            </a:r>
          </a:p>
          <a:p>
            <a:r>
              <a:t>근거·링크: EVIDENCE_LEDGER.md, reports/FINAL_REPORT_KO.md, design/PRODUCT_DESIGN.md, results/logs/ 참조.</a:t>
            </a:r>
          </a:p>
          <a:p>
            <a:r>
              <a:t>L4 후속 계획 | 필요한 아동/사건 수는 파일럿·불확실성으로 설계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상태 기준: 2026-10-23. 실제 원자료 다운로드 및 성능평가는 차단 상태. 합성 검사 수치를 성인/아동 예측 성능으로 발표하지 않는다.</a:t>
            </a:r>
          </a:p>
          <a:p>
            <a:r>
              <a:t>근거·링크: EVIDENCE_LEDGER.md, reports/FINAL_REPORT_KO.md, design/PRODUCT_DESIGN.md, results/logs/ 참조.</a:t>
            </a:r>
          </a:p>
          <a:p>
            <a:r>
              <a:t>성인 데이터 실측 완료 | 아동 일상 사건 검증으로 확장 필요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3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문제와 연구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B5DCE5"/>
                </a:solidFill>
                <a:latin typeface="맑은 고딕"/>
              </a:defRPr>
            </a:pPr>
            <a:r>
              <a:t>불편과 위험을 더 일찍 알아차리는 기술을 검증한다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필요성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보호자의 상황 인식을 지원할 가능성을 연구한다. 당사자의 편안함과 거부 의사를 존중한다.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구분할 상태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각성·스트레스·감각 과부하·멜트다운·공격·자해·반복행동은 같은 라벨이 아니다.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검증할 질문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손목 신호의 정보, 센서 조합의 효과, 새 참가자 일반화와 운동 혼동을 차례로 평가한다.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7282"/>
                </a:solidFill>
                <a:latin typeface="맑은 고딕"/>
              </a:defRPr>
            </a:pPr>
            <a:r>
              <a:t>L4 연구 목적 | 멜트다운 감소·60초 경보는 미검증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26364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87F91"/>
                </a:solidFill>
                <a:latin typeface="맑은 고딕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3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선행연구의 실제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B5DCE5"/>
                </a:solidFill>
                <a:latin typeface="맑은 고딕"/>
              </a:defRPr>
            </a:pPr>
            <a:r>
              <a:t>숫자보다 대상·미래구간·분할·지표를 함께 읽는다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Goodwin 2019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ASD20명·타인 공격. 과거180초→향후60초. AUROC 집단 .71 / 개인별 .84.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Imbiriba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입원70명·497시간·6,665행동. 선택된3분 조건 LR AUROC .80. 행동 이력 입력을 구별한다.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후속 연구의 한계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Kim9명 LOSO의 개인차·오경보, PreMAC의 전조 목표, REACT의 기록 스트림 모사를 구분한다.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7282"/>
                </a:solidFill>
                <a:latin typeface="맑은 고딕"/>
              </a:defRPr>
            </a:pPr>
            <a:r>
              <a:t>L2 | AUROC .84 ≠ 정확도84%·경고정밀도84% | EVIDENCE_LEDGER.md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26364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87F91"/>
                </a:solidFill>
                <a:latin typeface="맑은 고딕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3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이번 목표와 장기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B5DCE5"/>
                </a:solidFill>
                <a:latin typeface="맑은 고딕"/>
              </a:defRPr>
            </a:pPr>
            <a:r>
              <a:t>공개자료 연구와 아동 조기경보를 구분한다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이번에 제공한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성인 WESAD 15명 원본 학습·LOSO 평가 완료, 7개 센서 비교, 제품 설계.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확인한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WESAD 15명 LOSO LR AP .9048, RF .8586. ACC 단독 AP .9245, EDA 단독 .8045.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장기 목표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실제 아동 onset 자료에서 사건 단위 지표와 최소60초 선행 경고를 독립 검증한다.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7282"/>
                </a:solidFill>
                <a:latin typeface="맑은 고딕"/>
              </a:defRPr>
            </a:pPr>
            <a:r>
              <a:t>L2-실데이터 검증 | 성인 실험실 스트레스 분류 | 아동 멜트다운 지표는 N/A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26364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87F91"/>
                </a:solidFill>
                <a:latin typeface="맑은 고딕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3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미제작 손목형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B5DCE5"/>
                </a:solidFill>
                <a:latin typeface="맑은 고딕"/>
              </a:defRPr>
            </a:pPr>
            <a:r>
              <a:t>센서 → ESP32-S3 → BLE / 진동 / 특징로그</a:t>
            </a:r>
          </a:p>
        </p:txBody>
      </p:sp>
      <p:pic>
        <p:nvPicPr>
          <p:cNvPr id="5" name="Picture 4" descr="SYSTEM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7040880" cy="408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2057400"/>
            <a:ext cx="3840480" cy="36576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87F91"/>
                </a:solidFill>
                <a:latin typeface="맑은 고딕"/>
              </a:defRPr>
            </a:pPr>
            <a:r>
              <a:t>센서 경로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496312"/>
            <a:ext cx="3840480" cy="86868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73447"/>
                </a:solidFill>
                <a:latin typeface="맑은 고딕"/>
              </a:defRPr>
            </a:pPr>
            <a:r>
              <a:t>EDA만 AFE/ADC. PPG·IMU·Mic·Light는 각 디지털 인터페이스.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291840"/>
            <a:ext cx="3840480" cy="36576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87F91"/>
                </a:solidFill>
                <a:latin typeface="맑은 고딕"/>
              </a:defRPr>
            </a:pPr>
            <a:r>
              <a:t>온디바이스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730752"/>
            <a:ext cx="3840480" cy="86868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73447"/>
                </a:solidFill>
                <a:latin typeface="맑은 고딕"/>
              </a:defRPr>
            </a:pPr>
            <a:r>
              <a:t>ESP32-S3 모듈형, LR부터. Mic/Light 추가 예측력은 미검증.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526280"/>
            <a:ext cx="3840480" cy="36576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87F91"/>
                </a:solidFill>
                <a:latin typeface="맑은 고딕"/>
              </a:defRPr>
            </a:pPr>
            <a:r>
              <a:t>출력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965192"/>
            <a:ext cx="3840480" cy="86868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73447"/>
                </a:solidFill>
                <a:latin typeface="맑은 고딕"/>
              </a:defRPr>
            </a:pPr>
            <a:r>
              <a:t>BLE·DRV2605L·특징로그. 원음 비저장, 손목 진동 기본 비활성.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7282"/>
                </a:solidFill>
                <a:latin typeface="맑은 고딕"/>
              </a:defRPr>
            </a:pPr>
            <a:r>
              <a:t>DOC + L3 계산 | 제작·MCU 추론·배터리 실측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26364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87F91"/>
                </a:solidFill>
                <a:latin typeface="맑은 고딕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3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상하면 배치와 신호 품질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B5DCE5"/>
                </a:solidFill>
                <a:latin typeface="맑은 고딕"/>
              </a:defRPr>
            </a:pPr>
            <a:r>
              <a:t>배터리·안테나·광학 경로를 함께 검토한다</a:t>
            </a:r>
          </a:p>
        </p:txBody>
      </p:sp>
      <p:pic>
        <p:nvPicPr>
          <p:cNvPr id="5" name="Picture 4" descr="PCB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7040880" cy="3617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2057400"/>
            <a:ext cx="3840480" cy="36576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87F91"/>
                </a:solidFill>
                <a:latin typeface="맑은 고딕"/>
              </a:defRPr>
            </a:pPr>
            <a:r>
              <a:t>RF keep-out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496312"/>
            <a:ext cx="3840480" cy="86868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73447"/>
                </a:solidFill>
                <a:latin typeface="맑은 고딕"/>
              </a:defRPr>
            </a:pPr>
            <a:r>
              <a:t>모든 PCB층과 배터리·나사·케이블까지 확인. 실제 모듈 도면 기준 적용.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291840"/>
            <a:ext cx="3840480" cy="36576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87F91"/>
                </a:solidFill>
                <a:latin typeface="맑은 고딕"/>
              </a:defRPr>
            </a:pPr>
            <a:r>
              <a:t>피부 경로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730752"/>
            <a:ext cx="3840480" cy="86868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73447"/>
                </a:solidFill>
                <a:latin typeface="맑은 고딕"/>
              </a:defRPr>
            </a:pPr>
            <a:r>
              <a:t>EDA AFE는 전극 가까이. PPG 차광/개구부를 배터리가 가리지 않게 설계.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526280"/>
            <a:ext cx="3840480" cy="36576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87F91"/>
                </a:solidFill>
                <a:latin typeface="맑은 고딕"/>
              </a:defRPr>
            </a:pPr>
            <a:r>
              <a:t>보조 센서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965192"/>
            <a:ext cx="3840480" cy="86868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73447"/>
                </a:solidFill>
                <a:latin typeface="맑은 고딕"/>
              </a:defRPr>
            </a:pPr>
            <a:r>
              <a:t>Mic/Light는 바깥 포트. 진동의 센서 artifact를 기록·검증.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7282"/>
                </a:solidFill>
                <a:latin typeface="맑은 고딕"/>
              </a:defRPr>
            </a:pPr>
            <a:r>
              <a:t>설계 시안 | design/APP_MOCKUP.html | 실제 사용자 평가 미실행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26364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87F91"/>
                </a:solidFill>
                <a:latin typeface="맑은 고딕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3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AI 실험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B5DCE5"/>
                </a:solidFill>
                <a:latin typeface="맑은 고딕"/>
              </a:defRPr>
            </a:pPr>
            <a:r>
              <a:t>60초 과거창 · 15초 hop · 외부15명 LOSO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공정한 분리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동일 참가자의 모든 창을 한 fold에 유지한다. imputer/scaler는 train, threshold는 내부 validation만 쓴다.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모델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Dummy prior → LR → RF. 전체 센서3모델 + LR7센서 조합으로9개 고유 설정.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평가 단위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참가자별 AP/F1/BA·양성비율·범위·하위25%·CI를 보고한다. 중첩 창은 독립 참가자가 아니다.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7282"/>
                </a:solidFill>
                <a:latin typeface="맑은 고딕"/>
              </a:defRPr>
            </a:pPr>
            <a:r>
              <a:t>사전 계획 | EXPERIMENT_REGISTRY.md | P0/P1 전 P2 고급모델 중지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26364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87F91"/>
                </a:solidFill>
                <a:latin typeface="맑은 고딕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3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직접 실행한 WESAD 실험과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B5DCE5"/>
                </a:solidFill>
                <a:latin typeface="맑은 고딕"/>
              </a:defRPr>
            </a:pPr>
            <a:r>
              <a:t>Ryzen 7 8845HS에서 15명 LOSO 135회 학습 완료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원본 무결성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15명 전원 pickle SHA256 확인, 동기화 편차 0.0s, 총 5,740 윈도우 특징 추출.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모델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Dummy AP .2987 → RF AP .8586 (F1 .6142) → LR AP .9048 (F1 .7425).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재생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S2 원시 신호 스트림 재생: 지연시간 p50 9.48ms, OOF 점수 일치율 100%.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7282"/>
                </a:solidFill>
                <a:latin typeface="맑은 고딕"/>
              </a:defRPr>
            </a:pPr>
            <a:r>
              <a:t>L2-실데이터 | results/wesad/metrics.json / summary.csv | 19개 단위검사 통과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26364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87F91"/>
                </a:solidFill>
                <a:latin typeface="맑은 고딕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3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성과와 현재 검증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B5DCE5"/>
                </a:solidFill>
                <a:latin typeface="맑은 고딕"/>
              </a:defRPr>
            </a:pPr>
            <a:r>
              <a:t>실제 WESAD 성능을 확인하고 아동 과제와 분리한다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완료한 성과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WESAD 15명 LOSO 학습 완료, 7개 센서 비교, ESP32-S3 BOM·배치안, S2 지연 실측.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센서 기여도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EDA 대비 ACC 추가 시 +0.1003 AP 개선(10명 향상), PPG 단독은 -0.0711로 하락.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N/A 엄격 유지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ASD 멜트다운 사건 P/R, false alarms/day, 실제 아동 lead time 및 중재 효과.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7282"/>
                </a:solidFill>
                <a:latin typeface="맑은 고딕"/>
              </a:defRPr>
            </a:pPr>
            <a:r>
              <a:t>실데이터 결과 반영 | reports/RESULTS_CURRENT.md / QUALITY_REPORT.md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26364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87F91"/>
                </a:solidFill>
                <a:latin typeface="맑은 고딕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3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기대효과는 검증할 가설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B5DCE5"/>
                </a:solidFill>
                <a:latin typeface="맑은 고딕"/>
              </a:defRPr>
            </a:pPr>
            <a:r>
              <a:t>센서를 더 넣거나 데이터를 늘리면 항상 좋아지는가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센서 기여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같은 참가자·같은 창에서 전체−EDA의 paired AP 차이와 개선/악화 인원을 본다.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운동 혼동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검증된 PhysioNet 구간에서 EDA+BVP와 +ACC를 비교한다. 프로토콜·성별 교란을 함께 보고한다.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부정적 결과의 가치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일반화 한계·움직임 잡음·추가 센서의 무이득도 가설 검증 결과다. 미실행과 낮은 성능은 다르다.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7282"/>
                </a:solidFill>
                <a:latin typeface="맑은 고딕"/>
              </a:defRPr>
            </a:pPr>
            <a:r>
              <a:t>H1–H4 사전 가설 | 결과에 맞춘 성공 기준 변경 금지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26364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87F91"/>
                </a:solidFill>
                <a:latin typeface="맑은 고딕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3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한계와 후속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B5DCE5"/>
                </a:solidFill>
                <a:latin typeface="맑은 고딕"/>
              </a:defRPr>
            </a:pPr>
            <a:r>
              <a:t>성인 실험실 상태에서 아동 일상 사건으로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자료·윤리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동의·assent·철회·기관 검토, 자연발생 관찰, onset 오차·평가자 일치도·품질을 기록한다.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독립 예측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새 아동·새 날짜·새 환경 silent-mode 검증. 사건 matching과 경고 episode·누락·부담을 평가한다.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실제 도움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예측 후 별도 비교 중재연구로 사건 심각도·지속·아동 불편·보호자 부담 감소를 평가한다.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7282"/>
                </a:solidFill>
                <a:latin typeface="맑은 고딕"/>
              </a:defRPr>
            </a:pPr>
            <a:r>
              <a:t>L4 후속 계획 | 필요한 아동/사건 수는 파일럿·불확실성으로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26364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87F91"/>
                </a:solidFill>
                <a:latin typeface="맑은 고딕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3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결론과 다음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B5DCE5"/>
                </a:solidFill>
                <a:latin typeface="맑은 고딕"/>
              </a:defRPr>
            </a:pPr>
            <a:r>
              <a:t>실데이터 기반 검증과 아동 임상 로드맵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확인한 사실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성인 손목 센서로 스트레스 분류 가능(LR AP .9048). ACC 기여도 확인, RF 과적합 주의.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제품화 전제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ESP32-S3 모듈형(N8R8) 및 BLE 통신 기반 경량 TinyML 파이프라인 실현 가능.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10312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237744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7F91"/>
                </a:solidFill>
                <a:latin typeface="맑은 고딕"/>
              </a:defRPr>
            </a:pPr>
            <a:r>
              <a:t>다음 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3063240"/>
            <a:ext cx="3200400" cy="22860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73447"/>
                </a:solidFill>
                <a:latin typeface="맑은 고딕"/>
              </a:defRPr>
            </a:pPr>
            <a:r>
              <a:t>PhysioNet 운동 혼동 분석, 실제 아동 onset 수집 프로토콜 및 다기관 전향 검증.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7282"/>
                </a:solidFill>
                <a:latin typeface="맑은 고딕"/>
              </a:defRPr>
            </a:pPr>
            <a:r>
              <a:t>성인 데이터 실측 완료 | 아동 일상 사건 검증으로 확장 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26364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87F91"/>
                </a:solidFill>
                <a:latin typeface="맑은 고딕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